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154" d="100"/>
          <a:sy n="154" d="100"/>
        </p:scale>
        <p:origin x="-384" y="-90"/>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D16"/>
        </a:solidFill>
        <a:effectLst/>
      </p:bgPr>
    </p:bg>
    <p:spTree>
      <p:nvGrpSpPr>
        <p:cNvPr id="1" name=""/>
        <p:cNvGrpSpPr/>
        <p:nvPr/>
      </p:nvGrpSpPr>
      <p:grpSpPr>
        <a:xfrm>
          <a:off x="0" y="0"/>
          <a:ext cx="0" cy="0"/>
          <a:chOff x="0" y="0"/>
          <a:chExt cx="0" cy="0"/>
        </a:xfrm>
      </p:grpSpPr>
      <p:pic>
        <p:nvPicPr>
          <p:cNvPr id="2" name="Image 0" descr="/home/claude/logo_sq.png"/>
          <p:cNvPicPr>
            <a:picLocks noChangeAspect="1"/>
          </p:cNvPicPr>
          <p:nvPr/>
        </p:nvPicPr>
        <p:blipFill>
          <a:blip r:embed="rId3"/>
          <a:stretch>
            <a:fillRect/>
          </a:stretch>
        </p:blipFill>
        <p:spPr>
          <a:xfrm>
            <a:off x="548640" y="365760"/>
            <a:ext cx="1188720" cy="1188720"/>
          </a:xfrm>
          <a:prstGeom prst="rect">
            <a:avLst/>
          </a:prstGeom>
        </p:spPr>
      </p:pic>
      <p:sp>
        <p:nvSpPr>
          <p:cNvPr id="3" name="Text 0"/>
          <p:cNvSpPr txBox="1"/>
          <p:nvPr/>
        </p:nvSpPr>
        <p:spPr>
          <a:xfrm>
            <a:off x="2011680" y="365760"/>
            <a:ext cx="6583680" cy="731520"/>
          </a:xfrm>
          <a:prstGeom prst="rect">
            <a:avLst/>
          </a:prstGeom>
          <a:noFill/>
          <a:ln/>
        </p:spPr>
        <p:txBody>
          <a:bodyPr wrap="square" lIns="0" tIns="0" rIns="0" bIns="0" rtlCol="0" anchor="b"/>
          <a:lstStyle/>
          <a:p>
            <a:pPr marL="0" indent="0">
              <a:buNone/>
            </a:pPr>
            <a:r>
              <a:rPr lang="en-US" sz="2100" b="1" dirty="0">
                <a:solidFill>
                  <a:srgbClr val="FFFFFF"/>
                </a:solidFill>
                <a:latin typeface="Cambria" pitchFamily="34" charset="0"/>
                <a:ea typeface="Cambria" pitchFamily="34" charset="-122"/>
                <a:cs typeface="Cambria" pitchFamily="34" charset="-120"/>
              </a:rPr>
              <a:t>SESHADRI RAO GUDLAVALLERU ENGINEERING COLLEGE</a:t>
            </a:r>
            <a:endParaRPr lang="en-US" sz="2100" dirty="0"/>
          </a:p>
        </p:txBody>
      </p:sp>
      <p:sp>
        <p:nvSpPr>
          <p:cNvPr id="4" name="Text 1"/>
          <p:cNvSpPr txBox="1"/>
          <p:nvPr/>
        </p:nvSpPr>
        <p:spPr>
          <a:xfrm>
            <a:off x="2011680" y="1143000"/>
            <a:ext cx="6583680" cy="411480"/>
          </a:xfrm>
          <a:prstGeom prst="rect">
            <a:avLst/>
          </a:prstGeom>
          <a:noFill/>
          <a:ln/>
        </p:spPr>
        <p:txBody>
          <a:bodyPr wrap="square" lIns="0" tIns="0" rIns="0" bIns="0" rtlCol="0" anchor="t"/>
          <a:lstStyle/>
          <a:p>
            <a:pPr marL="0" indent="0">
              <a:buNone/>
            </a:pPr>
            <a:r>
              <a:rPr lang="en-US" sz="1600" dirty="0">
                <a:solidFill>
                  <a:srgbClr val="E7D8C9"/>
                </a:solidFill>
                <a:latin typeface="Calibri" pitchFamily="34" charset="0"/>
                <a:ea typeface="Calibri" pitchFamily="34" charset="-122"/>
                <a:cs typeface="Calibri" pitchFamily="34" charset="-120"/>
              </a:rPr>
              <a:t>Department of Computer Science and Engineering</a:t>
            </a:r>
            <a:endParaRPr lang="en-US" sz="1600" dirty="0"/>
          </a:p>
        </p:txBody>
      </p:sp>
      <p:sp>
        <p:nvSpPr>
          <p:cNvPr id="5" name="Text 2"/>
          <p:cNvSpPr txBox="1"/>
          <p:nvPr/>
        </p:nvSpPr>
        <p:spPr>
          <a:xfrm>
            <a:off x="548640" y="1783080"/>
            <a:ext cx="8046720" cy="7315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Heritage Treasures</a:t>
            </a:r>
            <a:endParaRPr lang="en-US" sz="4200" dirty="0"/>
          </a:p>
        </p:txBody>
      </p:sp>
      <p:sp>
        <p:nvSpPr>
          <p:cNvPr id="6" name="Text 3"/>
          <p:cNvSpPr txBox="1"/>
          <p:nvPr/>
        </p:nvSpPr>
        <p:spPr>
          <a:xfrm>
            <a:off x="548640" y="2514600"/>
            <a:ext cx="8046720" cy="411480"/>
          </a:xfrm>
          <a:prstGeom prst="rect">
            <a:avLst/>
          </a:prstGeom>
          <a:noFill/>
          <a:ln/>
        </p:spPr>
        <p:txBody>
          <a:bodyPr wrap="square" lIns="0" tIns="0" rIns="0" bIns="0" rtlCol="0" anchor="ctr"/>
          <a:lstStyle/>
          <a:p>
            <a:pPr marL="0" indent="0">
              <a:buNone/>
            </a:pPr>
            <a:r>
              <a:rPr lang="en-US" sz="2000" dirty="0">
                <a:solidFill>
                  <a:srgbClr val="E0A93B"/>
                </a:solidFill>
                <a:latin typeface="Calibri" pitchFamily="34" charset="0"/>
                <a:ea typeface="Calibri" pitchFamily="34" charset="-122"/>
                <a:cs typeface="Calibri" pitchFamily="34" charset="-120"/>
              </a:rPr>
              <a:t>An In-Depth Analysis of UNESCO World Heritage Sites (2019)</a:t>
            </a:r>
            <a:endParaRPr lang="en-US" sz="2000" dirty="0"/>
          </a:p>
        </p:txBody>
      </p:sp>
      <p:sp>
        <p:nvSpPr>
          <p:cNvPr id="7" name="Text 4"/>
          <p:cNvSpPr txBox="1"/>
          <p:nvPr/>
        </p:nvSpPr>
        <p:spPr>
          <a:xfrm>
            <a:off x="548640" y="3154680"/>
            <a:ext cx="3657600" cy="274320"/>
          </a:xfrm>
          <a:prstGeom prst="rect">
            <a:avLst/>
          </a:prstGeom>
          <a:noFill/>
          <a:ln/>
        </p:spPr>
        <p:txBody>
          <a:bodyPr wrap="square" lIns="0" tIns="0" rIns="0" bIns="0" rtlCol="0" anchor="ctr"/>
          <a:lstStyle/>
          <a:p>
            <a:pPr marL="0" indent="0">
              <a:buNone/>
            </a:pPr>
            <a:r>
              <a:rPr lang="en-US" sz="1200" b="1" dirty="0">
                <a:solidFill>
                  <a:srgbClr val="CDB9A8"/>
                </a:solidFill>
                <a:latin typeface="Calibri" pitchFamily="34" charset="0"/>
                <a:ea typeface="Calibri" pitchFamily="34" charset="-122"/>
                <a:cs typeface="Calibri" pitchFamily="34" charset="-120"/>
              </a:rPr>
              <a:t>TEAM MEMBERS</a:t>
            </a:r>
            <a:endParaRPr lang="en-US" sz="1200" dirty="0"/>
          </a:p>
        </p:txBody>
      </p:sp>
      <p:sp>
        <p:nvSpPr>
          <p:cNvPr id="8" name="Text 5"/>
          <p:cNvSpPr txBox="1"/>
          <p:nvPr/>
        </p:nvSpPr>
        <p:spPr>
          <a:xfrm>
            <a:off x="548640" y="3474720"/>
            <a:ext cx="42062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 Dhanush Kumar</a:t>
            </a:r>
            <a:r>
              <a:rPr lang="en-US" sz="1400" dirty="0">
                <a:solidFill>
                  <a:srgbClr val="CDB9A8"/>
                </a:solidFill>
                <a:latin typeface="Calibri" pitchFamily="34" charset="0"/>
                <a:ea typeface="Calibri" pitchFamily="34" charset="-122"/>
                <a:cs typeface="Calibri" pitchFamily="34" charset="-120"/>
              </a:rPr>
              <a:t>   24485A0509</a:t>
            </a:r>
            <a:endParaRPr lang="en-US" sz="1400" dirty="0"/>
          </a:p>
        </p:txBody>
      </p:sp>
      <p:sp>
        <p:nvSpPr>
          <p:cNvPr id="9" name="Text 6"/>
          <p:cNvSpPr txBox="1"/>
          <p:nvPr/>
        </p:nvSpPr>
        <p:spPr>
          <a:xfrm>
            <a:off x="548640" y="3785616"/>
            <a:ext cx="42062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 Chetan Saieesh</a:t>
            </a:r>
            <a:r>
              <a:rPr lang="en-US" sz="1400" dirty="0">
                <a:solidFill>
                  <a:srgbClr val="CDB9A8"/>
                </a:solidFill>
                <a:latin typeface="Calibri" pitchFamily="34" charset="0"/>
                <a:ea typeface="Calibri" pitchFamily="34" charset="-122"/>
                <a:cs typeface="Calibri" pitchFamily="34" charset="-120"/>
              </a:rPr>
              <a:t>   23481A05B0</a:t>
            </a:r>
            <a:endParaRPr lang="en-US" sz="1400" dirty="0"/>
          </a:p>
        </p:txBody>
      </p:sp>
      <p:sp>
        <p:nvSpPr>
          <p:cNvPr id="10" name="Text 7"/>
          <p:cNvSpPr txBox="1"/>
          <p:nvPr/>
        </p:nvSpPr>
        <p:spPr>
          <a:xfrm>
            <a:off x="548640" y="4096512"/>
            <a:ext cx="42062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 Suraj Babu</a:t>
            </a:r>
            <a:r>
              <a:rPr lang="en-US" sz="1400" dirty="0">
                <a:solidFill>
                  <a:srgbClr val="CDB9A8"/>
                </a:solidFill>
                <a:latin typeface="Calibri" pitchFamily="34" charset="0"/>
                <a:ea typeface="Calibri" pitchFamily="34" charset="-122"/>
                <a:cs typeface="Calibri" pitchFamily="34" charset="-120"/>
              </a:rPr>
              <a:t>   23481A05A9</a:t>
            </a:r>
            <a:endParaRPr lang="en-US" sz="1400" dirty="0"/>
          </a:p>
        </p:txBody>
      </p:sp>
      <p:sp>
        <p:nvSpPr>
          <p:cNvPr id="11" name="Text 8"/>
          <p:cNvSpPr txBox="1"/>
          <p:nvPr/>
        </p:nvSpPr>
        <p:spPr>
          <a:xfrm>
            <a:off x="548640" y="4407408"/>
            <a:ext cx="42062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 Vinay</a:t>
            </a:r>
            <a:r>
              <a:rPr lang="en-US" sz="1400" dirty="0">
                <a:solidFill>
                  <a:srgbClr val="CDB9A8"/>
                </a:solidFill>
                <a:latin typeface="Calibri" pitchFamily="34" charset="0"/>
                <a:ea typeface="Calibri" pitchFamily="34" charset="-122"/>
                <a:cs typeface="Calibri" pitchFamily="34" charset="-120"/>
              </a:rPr>
              <a:t>   23481A0570</a:t>
            </a:r>
            <a:endParaRPr lang="en-US" sz="1400" dirty="0"/>
          </a:p>
        </p:txBody>
      </p:sp>
      <p:sp>
        <p:nvSpPr>
          <p:cNvPr id="12" name="Text 9"/>
          <p:cNvSpPr txBox="1"/>
          <p:nvPr/>
        </p:nvSpPr>
        <p:spPr>
          <a:xfrm>
            <a:off x="5120640" y="3154680"/>
            <a:ext cx="3474720" cy="274320"/>
          </a:xfrm>
          <a:prstGeom prst="rect">
            <a:avLst/>
          </a:prstGeom>
          <a:noFill/>
          <a:ln/>
        </p:spPr>
        <p:txBody>
          <a:bodyPr wrap="square" lIns="0" tIns="0" rIns="0" bIns="0" rtlCol="0" anchor="ctr"/>
          <a:lstStyle/>
          <a:p>
            <a:pPr marL="0" indent="0">
              <a:buNone/>
            </a:pPr>
            <a:r>
              <a:rPr lang="en-US" sz="1200" b="1" dirty="0">
                <a:solidFill>
                  <a:srgbClr val="CDB9A8"/>
                </a:solidFill>
                <a:latin typeface="Calibri" pitchFamily="34" charset="0"/>
                <a:ea typeface="Calibri" pitchFamily="34" charset="-122"/>
                <a:cs typeface="Calibri" pitchFamily="34" charset="-120"/>
              </a:rPr>
              <a:t>UNDER THE GUIDANCE OF</a:t>
            </a:r>
            <a:endParaRPr lang="en-US" sz="1200" dirty="0"/>
          </a:p>
        </p:txBody>
      </p:sp>
      <p:sp>
        <p:nvSpPr>
          <p:cNvPr id="13" name="Text 10"/>
          <p:cNvSpPr txBox="1"/>
          <p:nvPr/>
        </p:nvSpPr>
        <p:spPr>
          <a:xfrm>
            <a:off x="5120640" y="3474720"/>
            <a:ext cx="3474720" cy="73152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Ms. A. Ramya, M.Tech</a:t>
            </a:r>
            <a:endParaRPr lang="en-US" sz="1600" dirty="0"/>
          </a:p>
          <a:p>
            <a:pPr marL="0" indent="0">
              <a:spcAft>
                <a:spcPts val="400"/>
              </a:spcAft>
              <a:buNone/>
            </a:pPr>
            <a:r>
              <a:rPr lang="en-US" sz="1400" dirty="0">
                <a:solidFill>
                  <a:srgbClr val="E7D8C9"/>
                </a:solidFill>
                <a:latin typeface="Calibri" pitchFamily="34" charset="0"/>
                <a:ea typeface="Calibri" pitchFamily="34" charset="-122"/>
                <a:cs typeface="Calibri" pitchFamily="34" charset="-120"/>
              </a:rPr>
              <a:t>Assistant Professor, Dept. of CSE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400" b="1" dirty="0">
                <a:solidFill>
                  <a:srgbClr val="2B1D16"/>
                </a:solidFill>
                <a:latin typeface="Cambria" pitchFamily="34" charset="0"/>
                <a:ea typeface="Cambria" pitchFamily="34" charset="-122"/>
                <a:cs typeface="Cambria" pitchFamily="34" charset="-120"/>
              </a:rPr>
              <a:t>Abstract</a:t>
            </a:r>
            <a:endParaRPr lang="en-US" sz="3400" dirty="0"/>
          </a:p>
        </p:txBody>
      </p:sp>
      <p:sp>
        <p:nvSpPr>
          <p:cNvPr id="3" name="Text 1"/>
          <p:cNvSpPr txBox="1"/>
          <p:nvPr/>
        </p:nvSpPr>
        <p:spPr>
          <a:xfrm>
            <a:off x="8229600" y="4663440"/>
            <a:ext cx="365760" cy="274320"/>
          </a:xfrm>
          <a:prstGeom prst="rect">
            <a:avLst/>
          </a:prstGeom>
          <a:noFill/>
          <a:ln/>
        </p:spPr>
        <p:txBody>
          <a:bodyPr wrap="square" lIns="0" tIns="0" rIns="0" bIns="0" rtlCol="0" anchor="ctr"/>
          <a:lstStyle/>
          <a:p>
            <a:pPr marL="0" indent="0" algn="r">
              <a:buNone/>
            </a:pPr>
            <a:r>
              <a:rPr lang="en-US" sz="1100" dirty="0">
                <a:solidFill>
                  <a:srgbClr val="6B5B50"/>
                </a:solidFill>
                <a:latin typeface="Calibri" pitchFamily="34" charset="0"/>
                <a:ea typeface="Calibri" pitchFamily="34" charset="-122"/>
                <a:cs typeface="Calibri" pitchFamily="34" charset="-120"/>
              </a:rPr>
              <a:t>2</a:t>
            </a:r>
            <a:endParaRPr lang="en-US" sz="1100" dirty="0"/>
          </a:p>
        </p:txBody>
      </p:sp>
      <p:sp>
        <p:nvSpPr>
          <p:cNvPr id="4" name="Text 2"/>
          <p:cNvSpPr txBox="1"/>
          <p:nvPr/>
        </p:nvSpPr>
        <p:spPr>
          <a:xfrm>
            <a:off x="548640" y="1234440"/>
            <a:ext cx="4389120" cy="3017520"/>
          </a:xfrm>
          <a:prstGeom prst="rect">
            <a:avLst/>
          </a:prstGeom>
          <a:noFill/>
          <a:ln/>
        </p:spPr>
        <p:txBody>
          <a:bodyPr wrap="square" lIns="0" tIns="0" rIns="0" bIns="0" rtlCol="0" anchor="t"/>
          <a:lstStyle/>
          <a:p>
            <a:pPr marL="0" indent="0">
              <a:spcAft>
                <a:spcPts val="600"/>
              </a:spcAft>
              <a:buNone/>
            </a:pPr>
            <a:r>
              <a:rPr lang="en-US" sz="1600" dirty="0">
                <a:solidFill>
                  <a:srgbClr val="2B1D16"/>
                </a:solidFill>
                <a:latin typeface="Calibri" pitchFamily="34" charset="0"/>
                <a:ea typeface="Calibri" pitchFamily="34" charset="-122"/>
                <a:cs typeface="Calibri" pitchFamily="34" charset="-120"/>
              </a:rPr>
              <a:t>This project explores the UNESCO World Heritage Sites dataset (2019) using Tableau. Interactive visualizations reveal how sites are distributed across countries, how many are officially in danger, and how inscriptions have grown by region over time.</a:t>
            </a:r>
            <a:endParaRPr lang="en-US" sz="1600" dirty="0"/>
          </a:p>
          <a:p>
            <a:pPr marL="0" indent="0">
              <a:spcAft>
                <a:spcPts val="600"/>
              </a:spcAft>
              <a:buNone/>
            </a:pPr>
            <a:endParaRPr lang="en-US" sz="1600" dirty="0"/>
          </a:p>
          <a:p>
            <a:pPr marL="0" indent="0">
              <a:spcAft>
                <a:spcPts val="600"/>
              </a:spcAft>
              <a:buNone/>
            </a:pPr>
            <a:r>
              <a:rPr lang="en-US" sz="1600" dirty="0">
                <a:solidFill>
                  <a:srgbClr val="2B1D16"/>
                </a:solidFill>
                <a:latin typeface="Calibri" pitchFamily="34" charset="0"/>
                <a:ea typeface="Calibri" pitchFamily="34" charset="-122"/>
                <a:cs typeface="Calibri" pitchFamily="34" charset="-120"/>
              </a:rPr>
              <a:t>The insights help stakeholders understand the global heritage landscape, spot patterns and prioritize preservation and promotion efforts.</a:t>
            </a:r>
            <a:endParaRPr lang="en-US" sz="1600" dirty="0"/>
          </a:p>
        </p:txBody>
      </p:sp>
      <p:sp>
        <p:nvSpPr>
          <p:cNvPr id="5" name="Shape 3"/>
          <p:cNvSpPr/>
          <p:nvPr/>
        </p:nvSpPr>
        <p:spPr>
          <a:xfrm>
            <a:off x="5394960" y="1234440"/>
            <a:ext cx="3200400" cy="868680"/>
          </a:xfrm>
          <a:prstGeom prst="rect">
            <a:avLst/>
          </a:prstGeom>
          <a:solidFill>
            <a:srgbClr val="F4EEE6"/>
          </a:solidFill>
          <a:ln w="12700">
            <a:solidFill>
              <a:srgbClr val="F4EEE6"/>
            </a:solidFill>
            <a:prstDash val="solid"/>
          </a:ln>
          <a:effectLst>
            <a:outerShdw blurRad="76200" dist="25400" dir="5400000" algn="bl" rotWithShape="0">
              <a:srgbClr val="000000">
                <a:alpha val="12000"/>
              </a:srgbClr>
            </a:outerShdw>
          </a:effectLst>
        </p:spPr>
      </p:sp>
      <p:sp>
        <p:nvSpPr>
          <p:cNvPr id="6" name="Shape 4"/>
          <p:cNvSpPr/>
          <p:nvPr/>
        </p:nvSpPr>
        <p:spPr>
          <a:xfrm>
            <a:off x="5577840" y="1417320"/>
            <a:ext cx="502920" cy="502920"/>
          </a:xfrm>
          <a:prstGeom prst="ellipse">
            <a:avLst/>
          </a:prstGeom>
          <a:solidFill>
            <a:srgbClr val="B85042"/>
          </a:solidFill>
          <a:ln w="12700">
            <a:solidFill>
              <a:srgbClr val="B85042"/>
            </a:solidFill>
            <a:prstDash val="solid"/>
          </a:ln>
        </p:spPr>
      </p:sp>
      <p:sp>
        <p:nvSpPr>
          <p:cNvPr id="7" name="Text 5"/>
          <p:cNvSpPr txBox="1"/>
          <p:nvPr/>
        </p:nvSpPr>
        <p:spPr>
          <a:xfrm>
            <a:off x="5577840" y="1417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6263640" y="1234440"/>
            <a:ext cx="2286000" cy="868680"/>
          </a:xfrm>
          <a:prstGeom prst="rect">
            <a:avLst/>
          </a:prstGeom>
          <a:noFill/>
          <a:ln/>
        </p:spPr>
        <p:txBody>
          <a:bodyPr wrap="square" lIns="0" tIns="0" rIns="0" bIns="0" rtlCol="0" anchor="ctr"/>
          <a:lstStyle/>
          <a:p>
            <a:pPr marL="0" indent="0">
              <a:buNone/>
            </a:pPr>
            <a:r>
              <a:rPr lang="en-US" sz="1700" b="1" dirty="0">
                <a:solidFill>
                  <a:srgbClr val="2B1D16"/>
                </a:solidFill>
                <a:latin typeface="Calibri" pitchFamily="34" charset="0"/>
                <a:ea typeface="Calibri" pitchFamily="34" charset="-122"/>
                <a:cs typeface="Calibri" pitchFamily="34" charset="-120"/>
              </a:rPr>
              <a:t>Treemap</a:t>
            </a:r>
            <a:endParaRPr lang="en-US" sz="1700" dirty="0"/>
          </a:p>
          <a:p>
            <a:pPr marL="0" indent="0">
              <a:buNone/>
            </a:pPr>
            <a:r>
              <a:rPr lang="en-US" sz="1300" dirty="0">
                <a:solidFill>
                  <a:srgbClr val="6B5B50"/>
                </a:solidFill>
                <a:latin typeface="Calibri" pitchFamily="34" charset="0"/>
                <a:ea typeface="Calibri" pitchFamily="34" charset="-122"/>
                <a:cs typeface="Calibri" pitchFamily="34" charset="-120"/>
              </a:rPr>
              <a:t>Sites by country</a:t>
            </a:r>
            <a:endParaRPr lang="en-US" sz="1700" dirty="0"/>
          </a:p>
        </p:txBody>
      </p:sp>
      <p:sp>
        <p:nvSpPr>
          <p:cNvPr id="9" name="Shape 7"/>
          <p:cNvSpPr/>
          <p:nvPr/>
        </p:nvSpPr>
        <p:spPr>
          <a:xfrm>
            <a:off x="5394960" y="2286000"/>
            <a:ext cx="3200400" cy="868680"/>
          </a:xfrm>
          <a:prstGeom prst="rect">
            <a:avLst/>
          </a:prstGeom>
          <a:solidFill>
            <a:srgbClr val="F4EEE6"/>
          </a:solidFill>
          <a:ln w="12700">
            <a:solidFill>
              <a:srgbClr val="F4EEE6"/>
            </a:solidFill>
            <a:prstDash val="solid"/>
          </a:ln>
          <a:effectLst>
            <a:outerShdw blurRad="76200" dist="25400" dir="5400000" algn="bl" rotWithShape="0">
              <a:srgbClr val="000000">
                <a:alpha val="12000"/>
              </a:srgbClr>
            </a:outerShdw>
          </a:effectLst>
        </p:spPr>
      </p:sp>
      <p:sp>
        <p:nvSpPr>
          <p:cNvPr id="10" name="Shape 8"/>
          <p:cNvSpPr/>
          <p:nvPr/>
        </p:nvSpPr>
        <p:spPr>
          <a:xfrm>
            <a:off x="5577840" y="2468880"/>
            <a:ext cx="502920" cy="502920"/>
          </a:xfrm>
          <a:prstGeom prst="ellipse">
            <a:avLst/>
          </a:prstGeom>
          <a:solidFill>
            <a:srgbClr val="B85042"/>
          </a:solidFill>
          <a:ln w="12700">
            <a:solidFill>
              <a:srgbClr val="B85042"/>
            </a:solidFill>
            <a:prstDash val="solid"/>
          </a:ln>
        </p:spPr>
      </p:sp>
      <p:sp>
        <p:nvSpPr>
          <p:cNvPr id="11" name="Text 9"/>
          <p:cNvSpPr txBox="1"/>
          <p:nvPr/>
        </p:nvSpPr>
        <p:spPr>
          <a:xfrm>
            <a:off x="557784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6263640" y="2286000"/>
            <a:ext cx="2286000" cy="868680"/>
          </a:xfrm>
          <a:prstGeom prst="rect">
            <a:avLst/>
          </a:prstGeom>
          <a:noFill/>
          <a:ln/>
        </p:spPr>
        <p:txBody>
          <a:bodyPr wrap="square" lIns="0" tIns="0" rIns="0" bIns="0" rtlCol="0" anchor="ctr"/>
          <a:lstStyle/>
          <a:p>
            <a:pPr marL="0" indent="0">
              <a:buNone/>
            </a:pPr>
            <a:r>
              <a:rPr lang="en-US" sz="1700" b="1" dirty="0">
                <a:solidFill>
                  <a:srgbClr val="2B1D16"/>
                </a:solidFill>
                <a:latin typeface="Calibri" pitchFamily="34" charset="0"/>
                <a:ea typeface="Calibri" pitchFamily="34" charset="-122"/>
                <a:cs typeface="Calibri" pitchFamily="34" charset="-120"/>
              </a:rPr>
              <a:t>Pie chart</a:t>
            </a:r>
            <a:endParaRPr lang="en-US" sz="1700" dirty="0"/>
          </a:p>
          <a:p>
            <a:pPr marL="0" indent="0">
              <a:buNone/>
            </a:pPr>
            <a:r>
              <a:rPr lang="en-US" sz="1300" dirty="0">
                <a:solidFill>
                  <a:srgbClr val="6B5B50"/>
                </a:solidFill>
                <a:latin typeface="Calibri" pitchFamily="34" charset="0"/>
                <a:ea typeface="Calibri" pitchFamily="34" charset="-122"/>
                <a:cs typeface="Calibri" pitchFamily="34" charset="-120"/>
              </a:rPr>
              <a:t>Sites in danger</a:t>
            </a:r>
            <a:endParaRPr lang="en-US" sz="1700" dirty="0"/>
          </a:p>
        </p:txBody>
      </p:sp>
      <p:sp>
        <p:nvSpPr>
          <p:cNvPr id="13" name="Shape 11"/>
          <p:cNvSpPr/>
          <p:nvPr/>
        </p:nvSpPr>
        <p:spPr>
          <a:xfrm>
            <a:off x="5394960" y="3337560"/>
            <a:ext cx="3200400" cy="868680"/>
          </a:xfrm>
          <a:prstGeom prst="rect">
            <a:avLst/>
          </a:prstGeom>
          <a:solidFill>
            <a:srgbClr val="F4EEE6"/>
          </a:solidFill>
          <a:ln w="12700">
            <a:solidFill>
              <a:srgbClr val="F4EEE6"/>
            </a:solidFill>
            <a:prstDash val="solid"/>
          </a:ln>
          <a:effectLst>
            <a:outerShdw blurRad="76200" dist="25400" dir="5400000" algn="bl" rotWithShape="0">
              <a:srgbClr val="000000">
                <a:alpha val="12000"/>
              </a:srgbClr>
            </a:outerShdw>
          </a:effectLst>
        </p:spPr>
      </p:sp>
      <p:sp>
        <p:nvSpPr>
          <p:cNvPr id="14" name="Shape 12"/>
          <p:cNvSpPr/>
          <p:nvPr/>
        </p:nvSpPr>
        <p:spPr>
          <a:xfrm>
            <a:off x="5577840" y="3520440"/>
            <a:ext cx="502920" cy="502920"/>
          </a:xfrm>
          <a:prstGeom prst="ellipse">
            <a:avLst/>
          </a:prstGeom>
          <a:solidFill>
            <a:srgbClr val="B85042"/>
          </a:solidFill>
          <a:ln w="12700">
            <a:solidFill>
              <a:srgbClr val="B85042"/>
            </a:solidFill>
            <a:prstDash val="solid"/>
          </a:ln>
        </p:spPr>
      </p:sp>
      <p:sp>
        <p:nvSpPr>
          <p:cNvPr id="15" name="Text 13"/>
          <p:cNvSpPr txBox="1"/>
          <p:nvPr/>
        </p:nvSpPr>
        <p:spPr>
          <a:xfrm>
            <a:off x="5577840" y="3520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6263640" y="3337560"/>
            <a:ext cx="2286000" cy="868680"/>
          </a:xfrm>
          <a:prstGeom prst="rect">
            <a:avLst/>
          </a:prstGeom>
          <a:noFill/>
          <a:ln/>
        </p:spPr>
        <p:txBody>
          <a:bodyPr wrap="square" lIns="0" tIns="0" rIns="0" bIns="0" rtlCol="0" anchor="ctr"/>
          <a:lstStyle/>
          <a:p>
            <a:pPr marL="0" indent="0">
              <a:buNone/>
            </a:pPr>
            <a:r>
              <a:rPr lang="en-US" sz="1700" b="1" dirty="0">
                <a:solidFill>
                  <a:srgbClr val="2B1D16"/>
                </a:solidFill>
                <a:latin typeface="Calibri" pitchFamily="34" charset="0"/>
                <a:ea typeface="Calibri" pitchFamily="34" charset="-122"/>
                <a:cs typeface="Calibri" pitchFamily="34" charset="-120"/>
              </a:rPr>
              <a:t>Line chart</a:t>
            </a:r>
            <a:endParaRPr lang="en-US" sz="1700" dirty="0"/>
          </a:p>
          <a:p>
            <a:pPr marL="0" indent="0">
              <a:buNone/>
            </a:pPr>
            <a:r>
              <a:rPr lang="en-US" sz="1300" dirty="0">
                <a:solidFill>
                  <a:srgbClr val="6B5B50"/>
                </a:solidFill>
                <a:latin typeface="Calibri" pitchFamily="34" charset="0"/>
                <a:ea typeface="Calibri" pitchFamily="34" charset="-122"/>
                <a:cs typeface="Calibri" pitchFamily="34" charset="-120"/>
              </a:rPr>
              <a:t>Inscription trends by region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400" b="1" dirty="0">
                <a:solidFill>
                  <a:srgbClr val="2B1D16"/>
                </a:solidFill>
                <a:latin typeface="Cambria" pitchFamily="34" charset="0"/>
                <a:ea typeface="Cambria" pitchFamily="34" charset="-122"/>
                <a:cs typeface="Cambria" pitchFamily="34" charset="-120"/>
              </a:rPr>
              <a:t>Problem and Idea</a:t>
            </a:r>
            <a:endParaRPr lang="en-US" sz="3400" dirty="0"/>
          </a:p>
        </p:txBody>
      </p:sp>
      <p:sp>
        <p:nvSpPr>
          <p:cNvPr id="3" name="Text 1"/>
          <p:cNvSpPr txBox="1"/>
          <p:nvPr/>
        </p:nvSpPr>
        <p:spPr>
          <a:xfrm>
            <a:off x="8229600" y="4663440"/>
            <a:ext cx="365760" cy="274320"/>
          </a:xfrm>
          <a:prstGeom prst="rect">
            <a:avLst/>
          </a:prstGeom>
          <a:noFill/>
          <a:ln/>
        </p:spPr>
        <p:txBody>
          <a:bodyPr wrap="square" lIns="0" tIns="0" rIns="0" bIns="0" rtlCol="0" anchor="ctr"/>
          <a:lstStyle/>
          <a:p>
            <a:pPr marL="0" indent="0" algn="r">
              <a:buNone/>
            </a:pPr>
            <a:r>
              <a:rPr lang="en-US" sz="1100" dirty="0">
                <a:solidFill>
                  <a:srgbClr val="6B5B50"/>
                </a:solidFill>
                <a:latin typeface="Calibri" pitchFamily="34" charset="0"/>
                <a:ea typeface="Calibri" pitchFamily="34" charset="-122"/>
                <a:cs typeface="Calibri" pitchFamily="34" charset="-120"/>
              </a:rPr>
              <a:t>3</a:t>
            </a:r>
            <a:endParaRPr lang="en-US" sz="1100" dirty="0"/>
          </a:p>
        </p:txBody>
      </p:sp>
      <p:sp>
        <p:nvSpPr>
          <p:cNvPr id="4" name="Shape 2"/>
          <p:cNvSpPr/>
          <p:nvPr/>
        </p:nvSpPr>
        <p:spPr>
          <a:xfrm>
            <a:off x="548640" y="1188720"/>
            <a:ext cx="3931920" cy="3291840"/>
          </a:xfrm>
          <a:prstGeom prst="rect">
            <a:avLst/>
          </a:prstGeom>
          <a:solidFill>
            <a:srgbClr val="FFFFFF"/>
          </a:solidFill>
          <a:ln w="12700">
            <a:solidFill>
              <a:srgbClr val="E3D6C8"/>
            </a:solidFill>
            <a:prstDash val="solid"/>
          </a:ln>
          <a:effectLst>
            <a:outerShdw blurRad="76200" dist="25400" dir="5400000" algn="bl" rotWithShape="0">
              <a:srgbClr val="000000">
                <a:alpha val="12000"/>
              </a:srgbClr>
            </a:outerShdw>
          </a:effectLst>
        </p:spPr>
      </p:sp>
      <p:sp>
        <p:nvSpPr>
          <p:cNvPr id="5" name="Text 3"/>
          <p:cNvSpPr txBox="1"/>
          <p:nvPr/>
        </p:nvSpPr>
        <p:spPr>
          <a:xfrm>
            <a:off x="822960" y="1371600"/>
            <a:ext cx="3383280" cy="457200"/>
          </a:xfrm>
          <a:prstGeom prst="rect">
            <a:avLst/>
          </a:prstGeom>
          <a:noFill/>
          <a:ln/>
        </p:spPr>
        <p:txBody>
          <a:bodyPr wrap="square" lIns="0" tIns="0" rIns="0" bIns="0"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The Problem</a:t>
            </a:r>
            <a:endParaRPr lang="en-US" sz="2200" dirty="0"/>
          </a:p>
        </p:txBody>
      </p:sp>
      <p:sp>
        <p:nvSpPr>
          <p:cNvPr id="6" name="Text 4"/>
          <p:cNvSpPr txBox="1"/>
          <p:nvPr/>
        </p:nvSpPr>
        <p:spPr>
          <a:xfrm>
            <a:off x="822960" y="1965960"/>
            <a:ext cx="33832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UNESCO site data is large and hard to interpret in raw tables</a:t>
            </a:r>
            <a:endParaRPr lang="en-US" sz="1500" dirty="0"/>
          </a:p>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Unclear which countries hold the most sites</a:t>
            </a:r>
            <a:endParaRPr lang="en-US" sz="1500" dirty="0"/>
          </a:p>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Threats to endangered sites are not easy to see at a glance</a:t>
            </a:r>
            <a:endParaRPr lang="en-US" sz="1500" dirty="0"/>
          </a:p>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Regional growth in inscriptions is hidden in the numbers</a:t>
            </a:r>
            <a:endParaRPr lang="en-US" sz="1500" dirty="0"/>
          </a:p>
        </p:txBody>
      </p:sp>
      <p:sp>
        <p:nvSpPr>
          <p:cNvPr id="7" name="Shape 5"/>
          <p:cNvSpPr/>
          <p:nvPr/>
        </p:nvSpPr>
        <p:spPr>
          <a:xfrm>
            <a:off x="4663440" y="1188720"/>
            <a:ext cx="3931920" cy="3291840"/>
          </a:xfrm>
          <a:prstGeom prst="rect">
            <a:avLst/>
          </a:prstGeom>
          <a:solidFill>
            <a:srgbClr val="F4EEE6"/>
          </a:solidFill>
          <a:ln w="12700">
            <a:solidFill>
              <a:srgbClr val="F4EEE6"/>
            </a:solidFill>
            <a:prstDash val="solid"/>
          </a:ln>
          <a:effectLst>
            <a:outerShdw blurRad="76200" dist="25400" dir="5400000" algn="bl" rotWithShape="0">
              <a:srgbClr val="000000">
                <a:alpha val="12000"/>
              </a:srgbClr>
            </a:outerShdw>
          </a:effectLst>
        </p:spPr>
      </p:sp>
      <p:sp>
        <p:nvSpPr>
          <p:cNvPr id="8" name="Text 6"/>
          <p:cNvSpPr txBox="1"/>
          <p:nvPr/>
        </p:nvSpPr>
        <p:spPr>
          <a:xfrm>
            <a:off x="4937760" y="1371600"/>
            <a:ext cx="3383280" cy="457200"/>
          </a:xfrm>
          <a:prstGeom prst="rect">
            <a:avLst/>
          </a:prstGeom>
          <a:noFill/>
          <a:ln/>
        </p:spPr>
        <p:txBody>
          <a:bodyPr wrap="square" lIns="0" tIns="0" rIns="0" bIns="0" rtlCol="0" anchor="ctr"/>
          <a:lstStyle/>
          <a:p>
            <a:pPr marL="0" indent="0">
              <a:buNone/>
            </a:pPr>
            <a:r>
              <a:rPr lang="en-US" sz="2200" b="1" dirty="0">
                <a:solidFill>
                  <a:srgbClr val="2B1D16"/>
                </a:solidFill>
                <a:latin typeface="Cambria" pitchFamily="34" charset="0"/>
                <a:ea typeface="Cambria" pitchFamily="34" charset="-122"/>
                <a:cs typeface="Cambria" pitchFamily="34" charset="-120"/>
              </a:rPr>
              <a:t>Our Idea</a:t>
            </a:r>
            <a:endParaRPr lang="en-US" sz="2200" dirty="0"/>
          </a:p>
        </p:txBody>
      </p:sp>
      <p:sp>
        <p:nvSpPr>
          <p:cNvPr id="9" name="Text 7"/>
          <p:cNvSpPr txBox="1"/>
          <p:nvPr/>
        </p:nvSpPr>
        <p:spPr>
          <a:xfrm>
            <a:off x="4937760" y="1965960"/>
            <a:ext cx="33832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Turn the dataset into clear, interactive Tableau visuals</a:t>
            </a:r>
            <a:endParaRPr lang="en-US" sz="1500" dirty="0"/>
          </a:p>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Show country-wise distribution with a treemap</a:t>
            </a:r>
            <a:endParaRPr lang="en-US" sz="1500" dirty="0"/>
          </a:p>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Show danger status with a pie chart</a:t>
            </a:r>
            <a:endParaRPr lang="en-US" sz="1500" dirty="0"/>
          </a:p>
          <a:p>
            <a:pPr marL="342900" indent="-342900">
              <a:spcAft>
                <a:spcPts val="800"/>
              </a:spcAft>
              <a:buSzPct val="100000"/>
              <a:buChar char="•"/>
            </a:pPr>
            <a:r>
              <a:rPr lang="en-US" sz="1500" dirty="0">
                <a:solidFill>
                  <a:srgbClr val="2B1D16"/>
                </a:solidFill>
                <a:latin typeface="Calibri" pitchFamily="34" charset="0"/>
                <a:ea typeface="Calibri" pitchFamily="34" charset="-122"/>
                <a:cs typeface="Calibri" pitchFamily="34" charset="-120"/>
              </a:rPr>
              <a:t>Track regional inscription trends with a line chart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400" b="1" dirty="0">
                <a:solidFill>
                  <a:srgbClr val="2B1D16"/>
                </a:solidFill>
                <a:latin typeface="Cambria" pitchFamily="34" charset="0"/>
                <a:ea typeface="Cambria" pitchFamily="34" charset="-122"/>
                <a:cs typeface="Cambria" pitchFamily="34" charset="-120"/>
              </a:rPr>
              <a:t>Implementation Approach</a:t>
            </a:r>
            <a:endParaRPr lang="en-US" sz="3400" dirty="0"/>
          </a:p>
        </p:txBody>
      </p:sp>
      <p:sp>
        <p:nvSpPr>
          <p:cNvPr id="3" name="Text 1"/>
          <p:cNvSpPr txBox="1"/>
          <p:nvPr/>
        </p:nvSpPr>
        <p:spPr>
          <a:xfrm>
            <a:off x="8229600" y="4663440"/>
            <a:ext cx="365760" cy="274320"/>
          </a:xfrm>
          <a:prstGeom prst="rect">
            <a:avLst/>
          </a:prstGeom>
          <a:noFill/>
          <a:ln/>
        </p:spPr>
        <p:txBody>
          <a:bodyPr wrap="square" lIns="0" tIns="0" rIns="0" bIns="0" rtlCol="0" anchor="ctr"/>
          <a:lstStyle/>
          <a:p>
            <a:pPr marL="0" indent="0" algn="r">
              <a:buNone/>
            </a:pPr>
            <a:r>
              <a:rPr lang="en-US" sz="1100" dirty="0">
                <a:solidFill>
                  <a:srgbClr val="6B5B50"/>
                </a:solidFill>
                <a:latin typeface="Calibri" pitchFamily="34" charset="0"/>
                <a:ea typeface="Calibri" pitchFamily="34" charset="-122"/>
                <a:cs typeface="Calibri" pitchFamily="34" charset="-120"/>
              </a:rPr>
              <a:t>4</a:t>
            </a:r>
            <a:endParaRPr lang="en-US" sz="1100" dirty="0"/>
          </a:p>
        </p:txBody>
      </p:sp>
      <p:sp>
        <p:nvSpPr>
          <p:cNvPr id="4" name="Shape 2"/>
          <p:cNvSpPr/>
          <p:nvPr/>
        </p:nvSpPr>
        <p:spPr>
          <a:xfrm>
            <a:off x="548640" y="1280160"/>
            <a:ext cx="1874520" cy="3017520"/>
          </a:xfrm>
          <a:prstGeom prst="rect">
            <a:avLst/>
          </a:prstGeom>
          <a:solidFill>
            <a:srgbClr val="2B1D16"/>
          </a:solidFill>
          <a:ln w="12700">
            <a:solidFill>
              <a:srgbClr val="2B1D16"/>
            </a:solidFill>
            <a:prstDash val="solid"/>
          </a:ln>
          <a:effectLst>
            <a:outerShdw blurRad="76200" dist="25400" dir="5400000" algn="bl" rotWithShape="0">
              <a:srgbClr val="000000">
                <a:alpha val="12000"/>
              </a:srgbClr>
            </a:outerShdw>
          </a:effectLst>
        </p:spPr>
      </p:sp>
      <p:sp>
        <p:nvSpPr>
          <p:cNvPr id="5" name="Shape 3"/>
          <p:cNvSpPr/>
          <p:nvPr/>
        </p:nvSpPr>
        <p:spPr>
          <a:xfrm>
            <a:off x="731520" y="1463040"/>
            <a:ext cx="548640" cy="548640"/>
          </a:xfrm>
          <a:prstGeom prst="ellipse">
            <a:avLst/>
          </a:prstGeom>
          <a:solidFill>
            <a:srgbClr val="E0A93B"/>
          </a:solidFill>
          <a:ln w="12700">
            <a:solidFill>
              <a:srgbClr val="E0A93B"/>
            </a:solidFill>
            <a:prstDash val="solid"/>
          </a:ln>
        </p:spPr>
      </p:sp>
      <p:sp>
        <p:nvSpPr>
          <p:cNvPr id="6" name="Text 4"/>
          <p:cNvSpPr txBox="1"/>
          <p:nvPr/>
        </p:nvSpPr>
        <p:spPr>
          <a:xfrm>
            <a:off x="731520" y="1463040"/>
            <a:ext cx="548640" cy="548640"/>
          </a:xfrm>
          <a:prstGeom prst="rect">
            <a:avLst/>
          </a:prstGeom>
          <a:noFill/>
          <a:ln/>
        </p:spPr>
        <p:txBody>
          <a:bodyPr wrap="square" lIns="0" tIns="0" rIns="0" bIns="0" rtlCol="0" anchor="ctr"/>
          <a:lstStyle/>
          <a:p>
            <a:pPr marL="0" indent="0" algn="ctr">
              <a:buNone/>
            </a:pPr>
            <a:r>
              <a:rPr lang="en-US" sz="2000" b="1" dirty="0">
                <a:solidFill>
                  <a:srgbClr val="2B1D16"/>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731520" y="2194560"/>
            <a:ext cx="155448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Prepare Data</a:t>
            </a:r>
            <a:endParaRPr lang="en-US" sz="1700" dirty="0"/>
          </a:p>
        </p:txBody>
      </p:sp>
      <p:sp>
        <p:nvSpPr>
          <p:cNvPr id="8" name="Text 6"/>
          <p:cNvSpPr txBox="1"/>
          <p:nvPr/>
        </p:nvSpPr>
        <p:spPr>
          <a:xfrm>
            <a:off x="731520" y="2880360"/>
            <a:ext cx="1554480" cy="1280160"/>
          </a:xfrm>
          <a:prstGeom prst="rect">
            <a:avLst/>
          </a:prstGeom>
          <a:noFill/>
          <a:ln/>
        </p:spPr>
        <p:txBody>
          <a:bodyPr wrap="square" lIns="0" tIns="0" rIns="0" bIns="0" rtlCol="0" anchor="t"/>
          <a:lstStyle/>
          <a:p>
            <a:pPr marL="0" indent="0">
              <a:buNone/>
            </a:pPr>
            <a:r>
              <a:rPr lang="en-US" sz="1250" dirty="0">
                <a:solidFill>
                  <a:srgbClr val="E7D8C9"/>
                </a:solidFill>
                <a:latin typeface="Calibri" pitchFamily="34" charset="0"/>
                <a:ea typeface="Calibri" pitchFamily="34" charset="-122"/>
                <a:cs typeface="Calibri" pitchFamily="34" charset="-120"/>
              </a:rPr>
              <a:t>Load the 2019 UNESCO dataset into Tableau and clean key fields</a:t>
            </a:r>
            <a:endParaRPr lang="en-US" sz="1250" dirty="0"/>
          </a:p>
        </p:txBody>
      </p:sp>
      <p:sp>
        <p:nvSpPr>
          <p:cNvPr id="9" name="Shape 7"/>
          <p:cNvSpPr/>
          <p:nvPr/>
        </p:nvSpPr>
        <p:spPr>
          <a:xfrm>
            <a:off x="2606040" y="1280160"/>
            <a:ext cx="1874520" cy="3017520"/>
          </a:xfrm>
          <a:prstGeom prst="rect">
            <a:avLst/>
          </a:prstGeom>
          <a:solidFill>
            <a:srgbClr val="F4EEE6"/>
          </a:solidFill>
          <a:ln w="12700">
            <a:solidFill>
              <a:srgbClr val="F4EEE6"/>
            </a:solidFill>
            <a:prstDash val="solid"/>
          </a:ln>
          <a:effectLst>
            <a:outerShdw blurRad="76200" dist="25400" dir="5400000" algn="bl" rotWithShape="0">
              <a:srgbClr val="000000">
                <a:alpha val="12000"/>
              </a:srgbClr>
            </a:outerShdw>
          </a:effectLst>
        </p:spPr>
      </p:sp>
      <p:sp>
        <p:nvSpPr>
          <p:cNvPr id="10" name="Shape 8"/>
          <p:cNvSpPr/>
          <p:nvPr/>
        </p:nvSpPr>
        <p:spPr>
          <a:xfrm>
            <a:off x="2788920" y="1463040"/>
            <a:ext cx="548640" cy="548640"/>
          </a:xfrm>
          <a:prstGeom prst="ellipse">
            <a:avLst/>
          </a:prstGeom>
          <a:solidFill>
            <a:srgbClr val="B85042"/>
          </a:solidFill>
          <a:ln w="12700">
            <a:solidFill>
              <a:srgbClr val="B85042"/>
            </a:solidFill>
            <a:prstDash val="solid"/>
          </a:ln>
        </p:spPr>
      </p:sp>
      <p:sp>
        <p:nvSpPr>
          <p:cNvPr id="11" name="Text 9"/>
          <p:cNvSpPr txBox="1"/>
          <p:nvPr/>
        </p:nvSpPr>
        <p:spPr>
          <a:xfrm>
            <a:off x="2788920"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2788920" y="2194560"/>
            <a:ext cx="1554480" cy="640080"/>
          </a:xfrm>
          <a:prstGeom prst="rect">
            <a:avLst/>
          </a:prstGeom>
          <a:noFill/>
          <a:ln/>
        </p:spPr>
        <p:txBody>
          <a:bodyPr wrap="square" lIns="0" tIns="0" rIns="0" bIns="0" rtlCol="0" anchor="t"/>
          <a:lstStyle/>
          <a:p>
            <a:pPr marL="0" indent="0">
              <a:buNone/>
            </a:pPr>
            <a:r>
              <a:rPr lang="en-US" sz="1700" b="1" dirty="0">
                <a:solidFill>
                  <a:srgbClr val="2B1D16"/>
                </a:solidFill>
                <a:latin typeface="Cambria" pitchFamily="34" charset="0"/>
                <a:ea typeface="Cambria" pitchFamily="34" charset="-122"/>
                <a:cs typeface="Cambria" pitchFamily="34" charset="-120"/>
              </a:rPr>
              <a:t>Sites by Country</a:t>
            </a:r>
            <a:endParaRPr lang="en-US" sz="1700" dirty="0"/>
          </a:p>
        </p:txBody>
      </p:sp>
      <p:sp>
        <p:nvSpPr>
          <p:cNvPr id="13" name="Text 11"/>
          <p:cNvSpPr txBox="1"/>
          <p:nvPr/>
        </p:nvSpPr>
        <p:spPr>
          <a:xfrm>
            <a:off x="2788920" y="2880360"/>
            <a:ext cx="1554480" cy="1280160"/>
          </a:xfrm>
          <a:prstGeom prst="rect">
            <a:avLst/>
          </a:prstGeom>
          <a:noFill/>
          <a:ln/>
        </p:spPr>
        <p:txBody>
          <a:bodyPr wrap="square" lIns="0" tIns="0" rIns="0" bIns="0" rtlCol="0" anchor="t"/>
          <a:lstStyle/>
          <a:p>
            <a:pPr marL="0" indent="0">
              <a:buNone/>
            </a:pPr>
            <a:r>
              <a:rPr lang="en-US" sz="1250" dirty="0">
                <a:solidFill>
                  <a:srgbClr val="6B5B50"/>
                </a:solidFill>
                <a:latin typeface="Calibri" pitchFamily="34" charset="0"/>
                <a:ea typeface="Calibri" pitchFamily="34" charset="-122"/>
                <a:cs typeface="Calibri" pitchFamily="34" charset="-120"/>
              </a:rPr>
              <a:t>Treemap: block size = number of sites</a:t>
            </a:r>
            <a:endParaRPr lang="en-US" sz="1250" dirty="0"/>
          </a:p>
          <a:p>
            <a:pPr marL="0" indent="0">
              <a:buNone/>
            </a:pPr>
            <a:r>
              <a:rPr lang="en-US" sz="1250" dirty="0">
                <a:solidFill>
                  <a:srgbClr val="6B5B50"/>
                </a:solidFill>
                <a:latin typeface="Calibri" pitchFamily="34" charset="0"/>
                <a:ea typeface="Calibri" pitchFamily="34" charset="-122"/>
                <a:cs typeface="Calibri" pitchFamily="34" charset="-120"/>
              </a:rPr>
              <a:t>Columns: Country, Name_en</a:t>
            </a:r>
            <a:endParaRPr lang="en-US" sz="1250" dirty="0"/>
          </a:p>
        </p:txBody>
      </p:sp>
      <p:sp>
        <p:nvSpPr>
          <p:cNvPr id="14" name="Shape 12"/>
          <p:cNvSpPr/>
          <p:nvPr/>
        </p:nvSpPr>
        <p:spPr>
          <a:xfrm>
            <a:off x="4663440" y="1280160"/>
            <a:ext cx="1874520" cy="3017520"/>
          </a:xfrm>
          <a:prstGeom prst="rect">
            <a:avLst/>
          </a:prstGeom>
          <a:solidFill>
            <a:srgbClr val="F4EEE6"/>
          </a:solidFill>
          <a:ln w="12700">
            <a:solidFill>
              <a:srgbClr val="F4EEE6"/>
            </a:solidFill>
            <a:prstDash val="solid"/>
          </a:ln>
          <a:effectLst>
            <a:outerShdw blurRad="76200" dist="25400" dir="5400000" algn="bl" rotWithShape="0">
              <a:srgbClr val="000000">
                <a:alpha val="12000"/>
              </a:srgbClr>
            </a:outerShdw>
          </a:effectLst>
        </p:spPr>
      </p:sp>
      <p:sp>
        <p:nvSpPr>
          <p:cNvPr id="15" name="Shape 13"/>
          <p:cNvSpPr/>
          <p:nvPr/>
        </p:nvSpPr>
        <p:spPr>
          <a:xfrm>
            <a:off x="4846320" y="1463040"/>
            <a:ext cx="548640" cy="548640"/>
          </a:xfrm>
          <a:prstGeom prst="ellipse">
            <a:avLst/>
          </a:prstGeom>
          <a:solidFill>
            <a:srgbClr val="B85042"/>
          </a:solidFill>
          <a:ln w="12700">
            <a:solidFill>
              <a:srgbClr val="B85042"/>
            </a:solidFill>
            <a:prstDash val="solid"/>
          </a:ln>
        </p:spPr>
      </p:sp>
      <p:sp>
        <p:nvSpPr>
          <p:cNvPr id="16" name="Text 14"/>
          <p:cNvSpPr txBox="1"/>
          <p:nvPr/>
        </p:nvSpPr>
        <p:spPr>
          <a:xfrm>
            <a:off x="4846320"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4846320" y="2194560"/>
            <a:ext cx="1554480" cy="640080"/>
          </a:xfrm>
          <a:prstGeom prst="rect">
            <a:avLst/>
          </a:prstGeom>
          <a:noFill/>
          <a:ln/>
        </p:spPr>
        <p:txBody>
          <a:bodyPr wrap="square" lIns="0" tIns="0" rIns="0" bIns="0" rtlCol="0" anchor="t"/>
          <a:lstStyle/>
          <a:p>
            <a:pPr marL="0" indent="0">
              <a:buNone/>
            </a:pPr>
            <a:r>
              <a:rPr lang="en-US" sz="1700" b="1" dirty="0">
                <a:solidFill>
                  <a:srgbClr val="2B1D16"/>
                </a:solidFill>
                <a:latin typeface="Cambria" pitchFamily="34" charset="0"/>
                <a:ea typeface="Cambria" pitchFamily="34" charset="-122"/>
                <a:cs typeface="Cambria" pitchFamily="34" charset="-120"/>
              </a:rPr>
              <a:t>Sites at Risk</a:t>
            </a:r>
            <a:endParaRPr lang="en-US" sz="1700" dirty="0"/>
          </a:p>
        </p:txBody>
      </p:sp>
      <p:sp>
        <p:nvSpPr>
          <p:cNvPr id="18" name="Text 16"/>
          <p:cNvSpPr txBox="1"/>
          <p:nvPr/>
        </p:nvSpPr>
        <p:spPr>
          <a:xfrm>
            <a:off x="4846320" y="2880360"/>
            <a:ext cx="1554480" cy="1280160"/>
          </a:xfrm>
          <a:prstGeom prst="rect">
            <a:avLst/>
          </a:prstGeom>
          <a:noFill/>
          <a:ln/>
        </p:spPr>
        <p:txBody>
          <a:bodyPr wrap="square" lIns="0" tIns="0" rIns="0" bIns="0" rtlCol="0" anchor="t"/>
          <a:lstStyle/>
          <a:p>
            <a:pPr marL="0" indent="0">
              <a:buNone/>
            </a:pPr>
            <a:r>
              <a:rPr lang="en-US" sz="1250" dirty="0">
                <a:solidFill>
                  <a:srgbClr val="6B5B50"/>
                </a:solidFill>
                <a:latin typeface="Calibri" pitchFamily="34" charset="0"/>
                <a:ea typeface="Calibri" pitchFamily="34" charset="-122"/>
                <a:cs typeface="Calibri" pitchFamily="34" charset="-120"/>
              </a:rPr>
              <a:t>Pie chart: In Danger vs Not in Danger</a:t>
            </a:r>
            <a:endParaRPr lang="en-US" sz="1250" dirty="0"/>
          </a:p>
          <a:p>
            <a:pPr marL="0" indent="0">
              <a:buNone/>
            </a:pPr>
            <a:r>
              <a:rPr lang="en-US" sz="1250" dirty="0">
                <a:solidFill>
                  <a:srgbClr val="6B5B50"/>
                </a:solidFill>
                <a:latin typeface="Calibri" pitchFamily="34" charset="0"/>
                <a:ea typeface="Calibri" pitchFamily="34" charset="-122"/>
                <a:cs typeface="Calibri" pitchFamily="34" charset="-120"/>
              </a:rPr>
              <a:t>Columns: Danger, Name_en</a:t>
            </a:r>
            <a:endParaRPr lang="en-US" sz="1250" dirty="0"/>
          </a:p>
        </p:txBody>
      </p:sp>
      <p:sp>
        <p:nvSpPr>
          <p:cNvPr id="19" name="Shape 17"/>
          <p:cNvSpPr/>
          <p:nvPr/>
        </p:nvSpPr>
        <p:spPr>
          <a:xfrm>
            <a:off x="6720840" y="1280160"/>
            <a:ext cx="1874520" cy="3017520"/>
          </a:xfrm>
          <a:prstGeom prst="rect">
            <a:avLst/>
          </a:prstGeom>
          <a:solidFill>
            <a:srgbClr val="F4EEE6"/>
          </a:solidFill>
          <a:ln w="12700">
            <a:solidFill>
              <a:srgbClr val="F4EEE6"/>
            </a:solidFill>
            <a:prstDash val="solid"/>
          </a:ln>
          <a:effectLst>
            <a:outerShdw blurRad="76200" dist="25400" dir="5400000" algn="bl" rotWithShape="0">
              <a:srgbClr val="000000">
                <a:alpha val="12000"/>
              </a:srgbClr>
            </a:outerShdw>
          </a:effectLst>
        </p:spPr>
      </p:sp>
      <p:sp>
        <p:nvSpPr>
          <p:cNvPr id="20" name="Shape 18"/>
          <p:cNvSpPr/>
          <p:nvPr/>
        </p:nvSpPr>
        <p:spPr>
          <a:xfrm>
            <a:off x="6903720" y="1463040"/>
            <a:ext cx="548640" cy="548640"/>
          </a:xfrm>
          <a:prstGeom prst="ellipse">
            <a:avLst/>
          </a:prstGeom>
          <a:solidFill>
            <a:srgbClr val="B85042"/>
          </a:solidFill>
          <a:ln w="12700">
            <a:solidFill>
              <a:srgbClr val="B85042"/>
            </a:solidFill>
            <a:prstDash val="solid"/>
          </a:ln>
        </p:spPr>
      </p:sp>
      <p:sp>
        <p:nvSpPr>
          <p:cNvPr id="21" name="Text 19"/>
          <p:cNvSpPr txBox="1"/>
          <p:nvPr/>
        </p:nvSpPr>
        <p:spPr>
          <a:xfrm>
            <a:off x="6903720"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6903720" y="2194560"/>
            <a:ext cx="1554480" cy="640080"/>
          </a:xfrm>
          <a:prstGeom prst="rect">
            <a:avLst/>
          </a:prstGeom>
          <a:noFill/>
          <a:ln/>
        </p:spPr>
        <p:txBody>
          <a:bodyPr wrap="square" lIns="0" tIns="0" rIns="0" bIns="0" rtlCol="0" anchor="t"/>
          <a:lstStyle/>
          <a:p>
            <a:pPr marL="0" indent="0">
              <a:buNone/>
            </a:pPr>
            <a:r>
              <a:rPr lang="en-US" sz="1700" b="1" dirty="0">
                <a:solidFill>
                  <a:srgbClr val="2B1D16"/>
                </a:solidFill>
                <a:latin typeface="Cambria" pitchFamily="34" charset="0"/>
                <a:ea typeface="Cambria" pitchFamily="34" charset="-122"/>
                <a:cs typeface="Cambria" pitchFamily="34" charset="-120"/>
              </a:rPr>
              <a:t>Regional Trends</a:t>
            </a:r>
            <a:endParaRPr lang="en-US" sz="1700" dirty="0"/>
          </a:p>
        </p:txBody>
      </p:sp>
      <p:sp>
        <p:nvSpPr>
          <p:cNvPr id="23" name="Text 21"/>
          <p:cNvSpPr txBox="1"/>
          <p:nvPr/>
        </p:nvSpPr>
        <p:spPr>
          <a:xfrm>
            <a:off x="6903720" y="2880360"/>
            <a:ext cx="1554480" cy="1280160"/>
          </a:xfrm>
          <a:prstGeom prst="rect">
            <a:avLst/>
          </a:prstGeom>
          <a:noFill/>
          <a:ln/>
        </p:spPr>
        <p:txBody>
          <a:bodyPr wrap="square" lIns="0" tIns="0" rIns="0" bIns="0" rtlCol="0" anchor="t"/>
          <a:lstStyle/>
          <a:p>
            <a:pPr marL="0" indent="0">
              <a:buNone/>
            </a:pPr>
            <a:r>
              <a:rPr lang="en-US" sz="1250" dirty="0">
                <a:solidFill>
                  <a:srgbClr val="6B5B50"/>
                </a:solidFill>
                <a:latin typeface="Calibri" pitchFamily="34" charset="0"/>
                <a:ea typeface="Calibri" pitchFamily="34" charset="-122"/>
                <a:cs typeface="Calibri" pitchFamily="34" charset="-120"/>
              </a:rPr>
              <a:t>Line chart: inscriptions over years by region</a:t>
            </a:r>
            <a:endParaRPr lang="en-US" sz="1250" dirty="0"/>
          </a:p>
          <a:p>
            <a:pPr marL="0" indent="0">
              <a:buNone/>
            </a:pPr>
            <a:r>
              <a:rPr lang="en-US" sz="1250" dirty="0">
                <a:solidFill>
                  <a:srgbClr val="6B5B50"/>
                </a:solidFill>
                <a:latin typeface="Calibri" pitchFamily="34" charset="0"/>
                <a:ea typeface="Calibri" pitchFamily="34" charset="-122"/>
                <a:cs typeface="Calibri" pitchFamily="34" charset="-120"/>
              </a:rPr>
              <a:t>Columns: Date_inscribed, Region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1D1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Shape 1"/>
          <p:cNvSpPr/>
          <p:nvPr/>
        </p:nvSpPr>
        <p:spPr>
          <a:xfrm>
            <a:off x="548640" y="1234440"/>
            <a:ext cx="8046720" cy="868680"/>
          </a:xfrm>
          <a:prstGeom prst="rect">
            <a:avLst/>
          </a:prstGeom>
          <a:solidFill>
            <a:srgbClr val="3D2B21"/>
          </a:solidFill>
          <a:ln w="12700">
            <a:solidFill>
              <a:srgbClr val="3D2B21"/>
            </a:solidFill>
            <a:prstDash val="solid"/>
          </a:ln>
        </p:spPr>
      </p:sp>
      <p:sp>
        <p:nvSpPr>
          <p:cNvPr id="4" name="Text 2"/>
          <p:cNvSpPr txBox="1"/>
          <p:nvPr/>
        </p:nvSpPr>
        <p:spPr>
          <a:xfrm>
            <a:off x="822960" y="1234440"/>
            <a:ext cx="1737360" cy="868680"/>
          </a:xfrm>
          <a:prstGeom prst="rect">
            <a:avLst/>
          </a:prstGeom>
          <a:noFill/>
          <a:ln/>
        </p:spPr>
        <p:txBody>
          <a:bodyPr wrap="square" lIns="0" tIns="0" rIns="0" bIns="0" rtlCol="0" anchor="ctr"/>
          <a:lstStyle/>
          <a:p>
            <a:pPr marL="0" indent="0">
              <a:buNone/>
            </a:pPr>
            <a:r>
              <a:rPr lang="en-US" sz="2000" b="1" dirty="0">
                <a:solidFill>
                  <a:srgbClr val="E0A93B"/>
                </a:solidFill>
                <a:latin typeface="Cambria" pitchFamily="34" charset="0"/>
                <a:ea typeface="Cambria" pitchFamily="34" charset="-122"/>
                <a:cs typeface="Cambria" pitchFamily="34" charset="-120"/>
              </a:rPr>
              <a:t>Distribution</a:t>
            </a:r>
            <a:endParaRPr lang="en-US" sz="2000" dirty="0"/>
          </a:p>
        </p:txBody>
      </p:sp>
      <p:sp>
        <p:nvSpPr>
          <p:cNvPr id="5" name="Text 3"/>
          <p:cNvSpPr txBox="1"/>
          <p:nvPr/>
        </p:nvSpPr>
        <p:spPr>
          <a:xfrm>
            <a:off x="2651760" y="1234440"/>
            <a:ext cx="5760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treemap quickly shows which countries hold the most heritage sites.</a:t>
            </a:r>
            <a:endParaRPr lang="en-US" sz="1500" dirty="0"/>
          </a:p>
        </p:txBody>
      </p:sp>
      <p:sp>
        <p:nvSpPr>
          <p:cNvPr id="6" name="Shape 4"/>
          <p:cNvSpPr/>
          <p:nvPr/>
        </p:nvSpPr>
        <p:spPr>
          <a:xfrm>
            <a:off x="548640" y="2286000"/>
            <a:ext cx="8046720" cy="868680"/>
          </a:xfrm>
          <a:prstGeom prst="rect">
            <a:avLst/>
          </a:prstGeom>
          <a:solidFill>
            <a:srgbClr val="3D2B21"/>
          </a:solidFill>
          <a:ln w="12700">
            <a:solidFill>
              <a:srgbClr val="3D2B21"/>
            </a:solidFill>
            <a:prstDash val="solid"/>
          </a:ln>
        </p:spPr>
      </p:sp>
      <p:sp>
        <p:nvSpPr>
          <p:cNvPr id="7" name="Text 5"/>
          <p:cNvSpPr txBox="1"/>
          <p:nvPr/>
        </p:nvSpPr>
        <p:spPr>
          <a:xfrm>
            <a:off x="822960" y="2286000"/>
            <a:ext cx="1737360" cy="868680"/>
          </a:xfrm>
          <a:prstGeom prst="rect">
            <a:avLst/>
          </a:prstGeom>
          <a:noFill/>
          <a:ln/>
        </p:spPr>
        <p:txBody>
          <a:bodyPr wrap="square" lIns="0" tIns="0" rIns="0" bIns="0" rtlCol="0" anchor="ctr"/>
          <a:lstStyle/>
          <a:p>
            <a:pPr marL="0" indent="0">
              <a:buNone/>
            </a:pPr>
            <a:r>
              <a:rPr lang="en-US" sz="2000" b="1" dirty="0">
                <a:solidFill>
                  <a:srgbClr val="E0A93B"/>
                </a:solidFill>
                <a:latin typeface="Cambria" pitchFamily="34" charset="0"/>
                <a:ea typeface="Cambria" pitchFamily="34" charset="-122"/>
                <a:cs typeface="Cambria" pitchFamily="34" charset="-120"/>
              </a:rPr>
              <a:t>Risk</a:t>
            </a:r>
            <a:endParaRPr lang="en-US" sz="2000" dirty="0"/>
          </a:p>
        </p:txBody>
      </p:sp>
      <p:sp>
        <p:nvSpPr>
          <p:cNvPr id="8" name="Text 6"/>
          <p:cNvSpPr txBox="1"/>
          <p:nvPr/>
        </p:nvSpPr>
        <p:spPr>
          <a:xfrm>
            <a:off x="2651760" y="2286000"/>
            <a:ext cx="5760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pie chart shows the share of sites in danger, so efforts can focus on the most vulnerable.</a:t>
            </a:r>
            <a:endParaRPr lang="en-US" sz="1500" dirty="0"/>
          </a:p>
        </p:txBody>
      </p:sp>
      <p:sp>
        <p:nvSpPr>
          <p:cNvPr id="9" name="Shape 7"/>
          <p:cNvSpPr/>
          <p:nvPr/>
        </p:nvSpPr>
        <p:spPr>
          <a:xfrm>
            <a:off x="548640" y="3337560"/>
            <a:ext cx="8046720" cy="868680"/>
          </a:xfrm>
          <a:prstGeom prst="rect">
            <a:avLst/>
          </a:prstGeom>
          <a:solidFill>
            <a:srgbClr val="3D2B21"/>
          </a:solidFill>
          <a:ln w="12700">
            <a:solidFill>
              <a:srgbClr val="3D2B21"/>
            </a:solidFill>
            <a:prstDash val="solid"/>
          </a:ln>
        </p:spPr>
      </p:sp>
      <p:sp>
        <p:nvSpPr>
          <p:cNvPr id="10" name="Text 8"/>
          <p:cNvSpPr txBox="1"/>
          <p:nvPr/>
        </p:nvSpPr>
        <p:spPr>
          <a:xfrm>
            <a:off x="822960" y="3337560"/>
            <a:ext cx="1737360" cy="868680"/>
          </a:xfrm>
          <a:prstGeom prst="rect">
            <a:avLst/>
          </a:prstGeom>
          <a:noFill/>
          <a:ln/>
        </p:spPr>
        <p:txBody>
          <a:bodyPr wrap="square" lIns="0" tIns="0" rIns="0" bIns="0" rtlCol="0" anchor="ctr"/>
          <a:lstStyle/>
          <a:p>
            <a:pPr marL="0" indent="0">
              <a:buNone/>
            </a:pPr>
            <a:r>
              <a:rPr lang="en-US" sz="2000" b="1" dirty="0">
                <a:solidFill>
                  <a:srgbClr val="E0A93B"/>
                </a:solidFill>
                <a:latin typeface="Cambria" pitchFamily="34" charset="0"/>
                <a:ea typeface="Cambria" pitchFamily="34" charset="-122"/>
                <a:cs typeface="Cambria" pitchFamily="34" charset="-120"/>
              </a:rPr>
              <a:t>Growth</a:t>
            </a:r>
            <a:endParaRPr lang="en-US" sz="2000" dirty="0"/>
          </a:p>
        </p:txBody>
      </p:sp>
      <p:sp>
        <p:nvSpPr>
          <p:cNvPr id="11" name="Text 9"/>
          <p:cNvSpPr txBox="1"/>
          <p:nvPr/>
        </p:nvSpPr>
        <p:spPr>
          <a:xfrm>
            <a:off x="2651760" y="3337560"/>
            <a:ext cx="5760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line chart reveals which regions are inscribing more sites over time.</a:t>
            </a:r>
            <a:endParaRPr lang="en-US" sz="1500" dirty="0"/>
          </a:p>
        </p:txBody>
      </p:sp>
      <p:sp>
        <p:nvSpPr>
          <p:cNvPr id="12" name="Text 10"/>
          <p:cNvSpPr txBox="1"/>
          <p:nvPr/>
        </p:nvSpPr>
        <p:spPr>
          <a:xfrm>
            <a:off x="548640" y="4434840"/>
            <a:ext cx="8046720" cy="365760"/>
          </a:xfrm>
          <a:prstGeom prst="rect">
            <a:avLst/>
          </a:prstGeom>
          <a:noFill/>
          <a:ln/>
        </p:spPr>
        <p:txBody>
          <a:bodyPr wrap="square" lIns="0" tIns="0" rIns="0" bIns="0" rtlCol="0" anchor="ctr"/>
          <a:lstStyle/>
          <a:p>
            <a:pPr marL="0" indent="0">
              <a:buNone/>
            </a:pPr>
            <a:r>
              <a:rPr lang="en-US" sz="1400" i="1" dirty="0">
                <a:solidFill>
                  <a:srgbClr val="CDB9A8"/>
                </a:solidFill>
                <a:latin typeface="Calibri" pitchFamily="34" charset="0"/>
                <a:ea typeface="Calibri" pitchFamily="34" charset="-122"/>
                <a:cs typeface="Calibri" pitchFamily="34" charset="-120"/>
              </a:rPr>
              <a:t>Together, these visuals support informed decisions to preserve and promote world heritage.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85042"/>
        </a:solidFill>
        <a:effectLst/>
      </p:bgPr>
    </p:bg>
    <p:spTree>
      <p:nvGrpSpPr>
        <p:cNvPr id="1" name=""/>
        <p:cNvGrpSpPr/>
        <p:nvPr/>
      </p:nvGrpSpPr>
      <p:grpSpPr>
        <a:xfrm>
          <a:off x="0" y="0"/>
          <a:ext cx="0" cy="0"/>
          <a:chOff x="0" y="0"/>
          <a:chExt cx="0" cy="0"/>
        </a:xfrm>
      </p:grpSpPr>
      <p:sp>
        <p:nvSpPr>
          <p:cNvPr id="2" name="Text 0"/>
          <p:cNvSpPr txBox="1"/>
          <p:nvPr/>
        </p:nvSpPr>
        <p:spPr>
          <a:xfrm>
            <a:off x="548640" y="1645920"/>
            <a:ext cx="8046720"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2743200"/>
            <a:ext cx="8046720" cy="457200"/>
          </a:xfrm>
          <a:prstGeom prst="rect">
            <a:avLst/>
          </a:prstGeom>
          <a:noFill/>
          <a:ln/>
        </p:spPr>
        <p:txBody>
          <a:bodyPr wrap="square" lIns="0" tIns="0" rIns="0" bIns="0" rtlCol="0" anchor="ctr"/>
          <a:lstStyle/>
          <a:p>
            <a:pPr marL="0" indent="0" algn="ctr">
              <a:buNone/>
            </a:pPr>
            <a:r>
              <a:rPr lang="en-US" sz="1800" dirty="0">
                <a:solidFill>
                  <a:srgbClr val="FBE9DF"/>
                </a:solidFill>
                <a:latin typeface="Calibri" pitchFamily="34" charset="0"/>
                <a:ea typeface="Calibri" pitchFamily="34" charset="-122"/>
                <a:cs typeface="Calibri" pitchFamily="34" charset="-120"/>
              </a:rPr>
              <a:t>Heritage Treasures: UNESCO World Heritage Sites </a:t>
            </a:r>
            <a:r>
              <a:rPr lang="en-US" sz="1800" dirty="0" smtClean="0">
                <a:solidFill>
                  <a:srgbClr val="FBE9DF"/>
                </a:solidFill>
                <a:latin typeface="Calibri" pitchFamily="34" charset="0"/>
                <a:ea typeface="Calibri" pitchFamily="34" charset="-122"/>
                <a:cs typeface="Calibri" pitchFamily="34" charset="-120"/>
              </a:rPr>
              <a:t>(2019)</a:t>
            </a:r>
          </a:p>
          <a:p>
            <a:pPr marL="0" indent="0" algn="ctr">
              <a:buNone/>
            </a:pPr>
            <a:endParaRPr lang="en-US" sz="1800" dirty="0" smtClean="0">
              <a:solidFill>
                <a:srgbClr val="FBE9DF"/>
              </a:solidFill>
              <a:latin typeface="Calibri" pitchFamily="34" charset="0"/>
              <a:ea typeface="Calibri" pitchFamily="34" charset="-122"/>
              <a:cs typeface="Calibri" pitchFamily="34" charset="-120"/>
            </a:endParaRPr>
          </a:p>
          <a:p>
            <a:pPr algn="ctr"/>
            <a:r>
              <a:rPr lang="en-US" sz="900" dirty="0" smtClean="0">
                <a:solidFill>
                  <a:schemeClr val="bg1"/>
                </a:solidFill>
                <a:latin typeface="Times New Roman" pitchFamily="18" charset="0"/>
                <a:cs typeface="Times New Roman" pitchFamily="18" charset="0"/>
              </a:rPr>
              <a:t>https://github.com/dhanush-kumar-guvvala/Heritage-Treasures-An-In-Depth-Analysis-of-UNESCO-World-Heritage-Sites-in-Tableau-main</a:t>
            </a:r>
            <a:endParaRPr lang="en-US" sz="900" dirty="0">
              <a:solidFill>
                <a:schemeClr val="bg1"/>
              </a:solidFill>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374</Words>
  <Application>Microsoft Office PowerPoint</Application>
  <PresentationFormat>On-screen Show (16:9)</PresentationFormat>
  <Paragraphs>73</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2026-09-28T04:40:16Z</dcterms:created>
  <dcterms:modified xsi:type="dcterms:W3CDTF">2026-09-28T11:51:18Z</dcterms:modified>
</cp:coreProperties>
</file>